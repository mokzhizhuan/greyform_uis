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58" r:id="rId3"/>
    <p:sldId id="259" r:id="rId4"/>
    <p:sldId id="280" r:id="rId5"/>
    <p:sldId id="279" r:id="rId6"/>
    <p:sldId id="260" r:id="rId7"/>
    <p:sldId id="281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619EE-EA27-4A7E-95E0-305DAC2AE0A1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34DDC-CE9D-42F3-9DEC-47B3DFA48C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346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34DDC-CE9D-42F3-9DEC-47B3DFA48CF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444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Option - Generic_ART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indoor, microscope, table&#10;&#10;Description automatically generated">
            <a:extLst>
              <a:ext uri="{FF2B5EF4-FFF2-40B4-BE49-F238E27FC236}">
                <a16:creationId xmlns:a16="http://schemas.microsoft.com/office/drawing/2014/main" id="{B2CEFCE0-5386-EB47-8B23-17F8BDCC9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" t="6109" b="18264"/>
          <a:stretch/>
        </p:blipFill>
        <p:spPr>
          <a:xfrm>
            <a:off x="-1" y="0"/>
            <a:ext cx="12195348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CB5A1F-9DEF-274A-A30B-668C3DD424AC}"/>
              </a:ext>
            </a:extLst>
          </p:cNvPr>
          <p:cNvGrpSpPr/>
          <p:nvPr/>
        </p:nvGrpSpPr>
        <p:grpSpPr>
          <a:xfrm>
            <a:off x="5894400" y="0"/>
            <a:ext cx="6296669" cy="6858000"/>
            <a:chOff x="4421498" y="0"/>
            <a:chExt cx="4722502" cy="51435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474C80-A01E-4043-AC12-506DD13EB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1498" y="0"/>
              <a:ext cx="4722502" cy="51435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BB26C9-5161-AD4B-AB64-5D0D3B3B58D7}"/>
                </a:ext>
              </a:extLst>
            </p:cNvPr>
            <p:cNvSpPr/>
            <p:nvPr/>
          </p:nvSpPr>
          <p:spPr>
            <a:xfrm>
              <a:off x="4716016" y="267494"/>
              <a:ext cx="4176465" cy="792088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18" name="Picture 17" descr="A picture containing shirt, drawing&#10;&#10;Description automatically generated">
              <a:extLst>
                <a:ext uri="{FF2B5EF4-FFF2-40B4-BE49-F238E27FC236}">
                  <a16:creationId xmlns:a16="http://schemas.microsoft.com/office/drawing/2014/main" id="{42F8BBF1-566A-4441-89D0-75102392A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6570" y="280955"/>
              <a:ext cx="1944216" cy="714248"/>
            </a:xfrm>
            <a:prstGeom prst="rect">
              <a:avLst/>
            </a:prstGeom>
          </p:spPr>
        </p:pic>
      </p:grp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480043" y="1718455"/>
            <a:ext cx="5376599" cy="2244711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867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80044" y="6021288"/>
            <a:ext cx="2335585" cy="38404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044" y="4613188"/>
            <a:ext cx="5376597" cy="638400"/>
          </a:xfrm>
        </p:spPr>
        <p:txBody>
          <a:bodyPr>
            <a:normAutofit/>
          </a:bodyPr>
          <a:lstStyle>
            <a:lvl1pPr marL="0" indent="0" algn="l">
              <a:buNone/>
              <a:defRPr sz="1867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44" y="4293097"/>
            <a:ext cx="5376597" cy="384935"/>
          </a:xfrm>
        </p:spPr>
        <p:txBody>
          <a:bodyPr>
            <a:normAutofit/>
          </a:bodyPr>
          <a:lstStyle>
            <a:lvl1pPr marL="0" indent="0" algn="l">
              <a:buNone/>
              <a:defRPr sz="2133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4" y="5270258"/>
            <a:ext cx="5376597" cy="749263"/>
          </a:xfrm>
        </p:spPr>
        <p:txBody>
          <a:bodyPr>
            <a:normAutofit/>
          </a:bodyPr>
          <a:lstStyle>
            <a:lvl1pPr marL="0" indent="0" algn="l">
              <a:buNone/>
              <a:defRPr sz="1867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50449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Option - Generic_SIM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indoor, microscope, table&#10;&#10;Description automatically generated">
            <a:extLst>
              <a:ext uri="{FF2B5EF4-FFF2-40B4-BE49-F238E27FC236}">
                <a16:creationId xmlns:a16="http://schemas.microsoft.com/office/drawing/2014/main" id="{B2CEFCE0-5386-EB47-8B23-17F8BDCC99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" t="6109" b="18264"/>
          <a:stretch/>
        </p:blipFill>
        <p:spPr>
          <a:xfrm>
            <a:off x="-1" y="0"/>
            <a:ext cx="1219534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061E41-6834-0843-B5F5-E3356940C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400" y="0"/>
            <a:ext cx="6296669" cy="6858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480043" y="1718455"/>
            <a:ext cx="5376599" cy="2244711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3867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80044" y="6021288"/>
            <a:ext cx="2335585" cy="38404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044" y="4613188"/>
            <a:ext cx="5376597" cy="638400"/>
          </a:xfrm>
        </p:spPr>
        <p:txBody>
          <a:bodyPr>
            <a:normAutofit/>
          </a:bodyPr>
          <a:lstStyle>
            <a:lvl1pPr marL="0" indent="0" algn="l">
              <a:buNone/>
              <a:defRPr sz="1867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0044" y="4293097"/>
            <a:ext cx="5376597" cy="384935"/>
          </a:xfrm>
        </p:spPr>
        <p:txBody>
          <a:bodyPr>
            <a:normAutofit/>
          </a:bodyPr>
          <a:lstStyle>
            <a:lvl1pPr marL="0" indent="0" algn="l">
              <a:buNone/>
              <a:defRPr sz="2133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4" y="5270258"/>
            <a:ext cx="5376597" cy="749263"/>
          </a:xfrm>
        </p:spPr>
        <p:txBody>
          <a:bodyPr>
            <a:normAutofit/>
          </a:bodyPr>
          <a:lstStyle>
            <a:lvl1pPr marL="0" indent="0" algn="l">
              <a:buNone/>
              <a:defRPr sz="1867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  <p:pic>
        <p:nvPicPr>
          <p:cNvPr id="11" name="Picture 10" descr="A picture containing object, drawing&#10;&#10;Description automatically generated">
            <a:extLst>
              <a:ext uri="{FF2B5EF4-FFF2-40B4-BE49-F238E27FC236}">
                <a16:creationId xmlns:a16="http://schemas.microsoft.com/office/drawing/2014/main" id="{4EF592B3-7A85-D648-AD11-285DCB6221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820708"/>
            <a:ext cx="1280379" cy="4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7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page_AR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871133" y="1571884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One Header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871133" y="2232655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Two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1133" y="2908915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Three Header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1871133" y="3575407"/>
            <a:ext cx="6705600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Four Header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8976784" y="1571883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8976784" y="2232655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8976784" y="2908915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i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8976784" y="3575407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1" hasCustomPrompt="1"/>
          </p:nvPr>
        </p:nvSpPr>
        <p:spPr>
          <a:xfrm>
            <a:off x="1871133" y="4215368"/>
            <a:ext cx="6705600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Five Header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2" hasCustomPrompt="1"/>
          </p:nvPr>
        </p:nvSpPr>
        <p:spPr>
          <a:xfrm>
            <a:off x="8976784" y="4210779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99456" y="448548"/>
            <a:ext cx="10561173" cy="625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Content in Open Sans, bold, size 20, left align</a:t>
            </a:r>
            <a:endParaRPr lang="en-GB" dirty="0"/>
          </a:p>
        </p:txBody>
      </p:sp>
      <p:pic>
        <p:nvPicPr>
          <p:cNvPr id="13" name="Picture 1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806B2243-35CE-0547-A583-80616B981F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31" y="6021286"/>
            <a:ext cx="2016224" cy="7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9570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8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 page_SIM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871133" y="1571884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One Header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871133" y="2232655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Two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1133" y="2908915"/>
            <a:ext cx="6705600" cy="365760"/>
          </a:xfrm>
        </p:spPr>
        <p:txBody>
          <a:bodyPr anchor="ctr">
            <a:norm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Three Header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1871133" y="3575407"/>
            <a:ext cx="6705600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Four Header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8976784" y="1571883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8976784" y="2232655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8976784" y="2908915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i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8976784" y="3575407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1" hasCustomPrompt="1"/>
          </p:nvPr>
        </p:nvSpPr>
        <p:spPr>
          <a:xfrm>
            <a:off x="1871133" y="4215368"/>
            <a:ext cx="6705600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Five Header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2" hasCustomPrompt="1"/>
          </p:nvPr>
        </p:nvSpPr>
        <p:spPr>
          <a:xfrm>
            <a:off x="8976784" y="4210779"/>
            <a:ext cx="1439696" cy="365760"/>
          </a:xfrm>
        </p:spPr>
        <p:txBody>
          <a:bodyPr anchor="ctr">
            <a:noAutofit/>
          </a:bodyPr>
          <a:lstStyle>
            <a:lvl1pPr marL="0" indent="0">
              <a:buNone/>
              <a:defRPr sz="2133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99456" y="448548"/>
            <a:ext cx="10561173" cy="625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2096BA"/>
                </a:solidFill>
              </a:defRPr>
            </a:lvl1pPr>
          </a:lstStyle>
          <a:p>
            <a:r>
              <a:rPr lang="en-US" dirty="0"/>
              <a:t>Content in Open Sans, bold, size 20, left align</a:t>
            </a:r>
            <a:endParaRPr lang="en-GB" dirty="0"/>
          </a:p>
        </p:txBody>
      </p:sp>
      <p:pic>
        <p:nvPicPr>
          <p:cNvPr id="13" name="Picture 12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21195250-05EB-B546-8A78-2D2DEBE33D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099" y="5925278"/>
            <a:ext cx="2159563" cy="82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9242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8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_AR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CF565E-3FBB-484E-B77E-2F19E30C1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456" y="234892"/>
            <a:ext cx="10561173" cy="96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rgbClr val="00B050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616BF9C-BC0A-CD41-AF8F-B9CD453E884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00152" y="1316567"/>
            <a:ext cx="10560049" cy="2880519"/>
          </a:xfrm>
        </p:spPr>
        <p:txBody>
          <a:bodyPr/>
          <a:lstStyle>
            <a:lvl1pPr marL="241294" indent="-241294">
              <a:buClr>
                <a:srgbClr val="00B050"/>
              </a:buClr>
              <a:buSzPct val="130000"/>
              <a:buFont typeface="Arial" panose="020B0604020202020204" pitchFamily="34" charset="0"/>
              <a:buChar char="•"/>
              <a:tabLst/>
              <a:defRPr sz="2133"/>
            </a:lvl1pPr>
            <a:lvl2pPr marL="241294" indent="-241294">
              <a:buNone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1"/>
            <a:r>
              <a:rPr lang="en-GB" dirty="0"/>
              <a:t>Click to input content (min. text size 16)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8" name="Picture 7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F95F6C52-AD75-C049-BE72-2C3D0B5152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731" y="6021286"/>
            <a:ext cx="2016224" cy="7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290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_SIM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CF565E-3FBB-484E-B77E-2F19E30C1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456" y="234892"/>
            <a:ext cx="10561173" cy="96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rgbClr val="2096BA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616BF9C-BC0A-CD41-AF8F-B9CD453E884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00152" y="1316567"/>
            <a:ext cx="10560049" cy="2880519"/>
          </a:xfrm>
        </p:spPr>
        <p:txBody>
          <a:bodyPr/>
          <a:lstStyle>
            <a:lvl1pPr marL="241294" indent="-241294">
              <a:buClr>
                <a:srgbClr val="2096BA"/>
              </a:buClr>
              <a:buSzPct val="130000"/>
              <a:buFont typeface="Arial" panose="020B0604020202020204" pitchFamily="34" charset="0"/>
              <a:buChar char="•"/>
              <a:tabLst/>
              <a:defRPr sz="2133"/>
            </a:lvl1pPr>
            <a:lvl2pPr marL="304792" indent="-296326">
              <a:buNone/>
              <a:tabLst/>
              <a:defRPr sz="2133">
                <a:latin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lvl="1"/>
            <a:r>
              <a:rPr lang="en-GB" dirty="0"/>
              <a:t>Click to input content (min. text size 16)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r>
              <a:rPr lang="en-GB" dirty="0"/>
              <a:t>Click to input content (min. text size 16)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5" name="Picture 4" descr="A picture containing shirt, drawing&#10;&#10;Description automatically generated">
            <a:extLst>
              <a:ext uri="{FF2B5EF4-FFF2-40B4-BE49-F238E27FC236}">
                <a16:creationId xmlns:a16="http://schemas.microsoft.com/office/drawing/2014/main" id="{49CE4C12-A00B-804F-A5B8-765FCEE06D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099" y="5925278"/>
            <a:ext cx="2159563" cy="82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148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D31065-48EE-3E44-8580-C08AEC29A78A}"/>
              </a:ext>
            </a:extLst>
          </p:cNvPr>
          <p:cNvSpPr/>
          <p:nvPr/>
        </p:nvSpPr>
        <p:spPr>
          <a:xfrm>
            <a:off x="0" y="0"/>
            <a:ext cx="110344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31371" y="452669"/>
            <a:ext cx="11329259" cy="96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31371" y="1508787"/>
            <a:ext cx="11329259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</p:txBody>
      </p:sp>
    </p:spTree>
    <p:extLst>
      <p:ext uri="{BB962C8B-B14F-4D97-AF65-F5344CB8AC3E}">
        <p14:creationId xmlns:p14="http://schemas.microsoft.com/office/powerpoint/2010/main" val="76055456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Divider_SIMTec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5413" y="1700809"/>
            <a:ext cx="7323600" cy="1272143"/>
          </a:xfrm>
        </p:spPr>
        <p:txBody>
          <a:bodyPr wrap="square" anchor="t">
            <a:spAutoFit/>
          </a:bodyPr>
          <a:lstStyle>
            <a:lvl1pPr algn="l">
              <a:defRPr sz="3733" baseline="0">
                <a:solidFill>
                  <a:srgbClr val="2096BA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Section header in Open Sans, bold, size 28,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909560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Section Divider_ARTC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5413" y="1700809"/>
            <a:ext cx="7323600" cy="1272143"/>
          </a:xfrm>
        </p:spPr>
        <p:txBody>
          <a:bodyPr wrap="square" anchor="t">
            <a:spAutoFit/>
          </a:bodyPr>
          <a:lstStyle>
            <a:lvl1pPr algn="l">
              <a:defRPr sz="3733" baseline="0">
                <a:solidFill>
                  <a:srgbClr val="00B050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Section header in Open Sans, bold, size 28,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1455337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act Us_SIM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392500" y="2040965"/>
            <a:ext cx="5486400" cy="274320"/>
          </a:xfrm>
        </p:spPr>
        <p:txBody>
          <a:bodyPr anchor="ctr"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92500" y="1724133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392500" y="2357797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1392500" y="2674627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1392500" y="1407301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391477" y="4254673"/>
            <a:ext cx="5486400" cy="274320"/>
          </a:xfrm>
        </p:spPr>
        <p:txBody>
          <a:bodyPr anchor="ctr"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1391477" y="3937848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1391477" y="4571499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1391477" y="4888324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91477" y="3621023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7056107" y="1407326"/>
            <a:ext cx="3657600" cy="15416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7" name="Text Placeholder 39"/>
          <p:cNvSpPr>
            <a:spLocks noGrp="1"/>
          </p:cNvSpPr>
          <p:nvPr>
            <p:ph type="body" sz="quarter" idx="32" hasCustomPrompt="1"/>
          </p:nvPr>
        </p:nvSpPr>
        <p:spPr>
          <a:xfrm>
            <a:off x="7056107" y="3621022"/>
            <a:ext cx="3657600" cy="154162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5467" y="444620"/>
            <a:ext cx="2456122" cy="605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333" b="1" kern="1200" baseline="0" dirty="0">
                <a:solidFill>
                  <a:srgbClr val="2096BA"/>
                </a:solidFill>
                <a:latin typeface="Open Sans"/>
                <a:ea typeface="+mj-ea"/>
                <a:cs typeface="Open Sans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53293281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ontact Us_AR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392500" y="2040965"/>
            <a:ext cx="5486400" cy="274320"/>
          </a:xfrm>
        </p:spPr>
        <p:txBody>
          <a:bodyPr anchor="ctr"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92500" y="1724133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392500" y="2357797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1392500" y="2674627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1392500" y="1407301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391477" y="4254673"/>
            <a:ext cx="5486400" cy="274320"/>
          </a:xfrm>
        </p:spPr>
        <p:txBody>
          <a:bodyPr anchor="ctr"/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1391477" y="3937848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1391477" y="4571499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1391477" y="4888324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391477" y="3621023"/>
            <a:ext cx="5486400" cy="274320"/>
          </a:xfrm>
        </p:spPr>
        <p:txBody>
          <a:bodyPr anchor="ctr">
            <a:noAutofit/>
          </a:bodyPr>
          <a:lstStyle>
            <a:lvl1pPr marL="0" indent="0">
              <a:buNone/>
              <a:defRPr sz="20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7056107" y="1407326"/>
            <a:ext cx="3657600" cy="15416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7" name="Text Placeholder 39"/>
          <p:cNvSpPr>
            <a:spLocks noGrp="1"/>
          </p:cNvSpPr>
          <p:nvPr>
            <p:ph type="body" sz="quarter" idx="32" hasCustomPrompt="1"/>
          </p:nvPr>
        </p:nvSpPr>
        <p:spPr>
          <a:xfrm>
            <a:off x="7056107" y="3621022"/>
            <a:ext cx="3657600" cy="154162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5467" y="444620"/>
            <a:ext cx="2456122" cy="6052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333" b="1" kern="1200" baseline="0" dirty="0">
                <a:solidFill>
                  <a:srgbClr val="00B050"/>
                </a:solidFill>
                <a:latin typeface="Open Sans"/>
                <a:ea typeface="+mj-ea"/>
                <a:cs typeface="Open Sans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3981564552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Back Cover_SIMTech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214347" y="2660915"/>
            <a:ext cx="26194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200" b="1" kern="1200" baseline="0" dirty="0">
                <a:solidFill>
                  <a:srgbClr val="2096BA"/>
                </a:solidFill>
                <a:latin typeface="Open Sans"/>
                <a:ea typeface="+mj-ea"/>
                <a:cs typeface="Open Sans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75AD7-A0FE-C44E-AF02-9867EA4F9B5F}"/>
              </a:ext>
            </a:extLst>
          </p:cNvPr>
          <p:cNvSpPr/>
          <p:nvPr/>
        </p:nvSpPr>
        <p:spPr>
          <a:xfrm>
            <a:off x="6282106" y="3782579"/>
            <a:ext cx="2590966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467" b="0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www.a-star.edu.sg/SIMTech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7ABC79-F056-DF4F-8786-B9175747C5D5}"/>
              </a:ext>
            </a:extLst>
          </p:cNvPr>
          <p:cNvCxnSpPr/>
          <p:nvPr/>
        </p:nvCxnSpPr>
        <p:spPr>
          <a:xfrm>
            <a:off x="6384032" y="3717032"/>
            <a:ext cx="2400267" cy="0"/>
          </a:xfrm>
          <a:prstGeom prst="line">
            <a:avLst/>
          </a:prstGeom>
          <a:ln w="3175">
            <a:solidFill>
              <a:srgbClr val="003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F49ADCD-67B7-184E-9913-7509A2E972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531923"/>
            <a:ext cx="2496277" cy="68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777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Back Cover_ARTC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214347" y="2660915"/>
            <a:ext cx="26194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200" b="1" kern="1200" baseline="0" dirty="0">
                <a:solidFill>
                  <a:srgbClr val="00B050"/>
                </a:solidFill>
                <a:latin typeface="Open Sans"/>
                <a:ea typeface="+mj-ea"/>
                <a:cs typeface="Open Sans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75AD7-A0FE-C44E-AF02-9867EA4F9B5F}"/>
              </a:ext>
            </a:extLst>
          </p:cNvPr>
          <p:cNvSpPr/>
          <p:nvPr/>
        </p:nvSpPr>
        <p:spPr>
          <a:xfrm>
            <a:off x="6282106" y="3782579"/>
            <a:ext cx="2318199" cy="318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467" b="0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www.a-star.edu.sg/ARTC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7ABC79-F056-DF4F-8786-B9175747C5D5}"/>
              </a:ext>
            </a:extLst>
          </p:cNvPr>
          <p:cNvCxnSpPr/>
          <p:nvPr/>
        </p:nvCxnSpPr>
        <p:spPr>
          <a:xfrm>
            <a:off x="6384032" y="3717032"/>
            <a:ext cx="2400267" cy="0"/>
          </a:xfrm>
          <a:prstGeom prst="line">
            <a:avLst/>
          </a:prstGeom>
          <a:ln w="3175">
            <a:solidFill>
              <a:srgbClr val="003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536766"/>
            <a:ext cx="2496277" cy="6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1365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93611"/>
      </p:ext>
    </p:extLst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199456" y="452669"/>
            <a:ext cx="10561173" cy="96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rgbClr val="003087"/>
                </a:solidFill>
              </a:defRPr>
            </a:lvl1pPr>
          </a:lstStyle>
          <a:p>
            <a:r>
              <a:rPr lang="en-US"/>
              <a:t>Title in Open Sans, bold, size 20, left align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1199456" y="1508787"/>
            <a:ext cx="10561173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/>
              <a:t>Click to input content (min. text size 16)</a:t>
            </a:r>
          </a:p>
        </p:txBody>
      </p:sp>
    </p:spTree>
    <p:extLst>
      <p:ext uri="{BB962C8B-B14F-4D97-AF65-F5344CB8AC3E}">
        <p14:creationId xmlns:p14="http://schemas.microsoft.com/office/powerpoint/2010/main" val="179012730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AC3B0-CB85-40CE-8E40-078D7E0039DD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10FC-F910-4F74-9C27-B2C5A9735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0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F527-D526-F2DA-0225-9C5114D29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51087-2DCC-7409-926A-FDD84C987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4F50-747F-CE9D-9325-5220300C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4AD1-DF4E-4239-B34D-3933F7D498A9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37287-5E8E-4348-D88D-79CD5FA2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B0083-9EF2-D6D8-75D0-43811DA7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448E-F039-4765-B7A4-16E10418102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325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9456" y="452669"/>
            <a:ext cx="10561173" cy="9601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9456" y="1508787"/>
            <a:ext cx="10561173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  <a:p>
            <a:pPr lvl="4"/>
            <a:endParaRPr lang="en-GB" dirty="0"/>
          </a:p>
        </p:txBody>
      </p:sp>
      <p:pic>
        <p:nvPicPr>
          <p:cNvPr id="4" name="Picture 3" descr="AStar_Powerpoint_Image Template05.jpg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828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ransition spd="slow">
    <p:push dir="u"/>
  </p:transition>
  <p:txStyles>
    <p:titleStyle>
      <a:lvl1pPr algn="l" defTabSz="1219170" rtl="0" eaLnBrk="1" latinLnBrk="0" hangingPunct="1">
        <a:spcBef>
          <a:spcPct val="0"/>
        </a:spcBef>
        <a:buNone/>
        <a:defRPr sz="2667" b="1" kern="1200" baseline="0">
          <a:solidFill>
            <a:srgbClr val="003087"/>
          </a:solidFill>
          <a:latin typeface="Open Sans"/>
          <a:ea typeface="+mj-ea"/>
          <a:cs typeface="Open Sans"/>
        </a:defRPr>
      </a:lvl1pPr>
    </p:titleStyle>
    <p:bodyStyle>
      <a:lvl1pPr marL="0" marR="0" indent="0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None/>
        <a:tabLst/>
        <a:defRPr sz="2133" kern="1200">
          <a:solidFill>
            <a:schemeClr val="tx1"/>
          </a:solidFill>
          <a:latin typeface="Open Sans"/>
          <a:ea typeface="+mn-ea"/>
          <a:cs typeface="Open Sans"/>
        </a:defRPr>
      </a:lvl1pPr>
      <a:lvl2pPr marL="609585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914377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19170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5045BE2-A550-B66F-4486-95862129E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43" y="1718455"/>
            <a:ext cx="5376599" cy="2244711"/>
          </a:xfrm>
        </p:spPr>
        <p:txBody>
          <a:bodyPr/>
          <a:lstStyle/>
          <a:p>
            <a:r>
              <a:rPr lang="en-US" dirty="0"/>
              <a:t>WALL PLACEMENT AND REACHABILITY ANALYSIS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415591-6FB6-B285-E048-2069DEA588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0044" y="6021288"/>
            <a:ext cx="2335585" cy="384043"/>
          </a:xfrm>
        </p:spPr>
        <p:txBody>
          <a:bodyPr/>
          <a:lstStyle/>
          <a:p>
            <a:r>
              <a:rPr lang="en-US" dirty="0"/>
              <a:t>19/05/2025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B8705FF-085C-3098-772A-B1B54F2DE1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80044" y="4613188"/>
            <a:ext cx="5376597" cy="638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B0E151-7F1B-0D0A-AAB6-A12C84B88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0044" y="4293097"/>
            <a:ext cx="5376597" cy="384935"/>
          </a:xfrm>
        </p:spPr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114D6-4E8B-8D99-163A-519BBEA3C9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80044" y="5270258"/>
            <a:ext cx="5376597" cy="749263"/>
          </a:xfrm>
        </p:spPr>
        <p:txBody>
          <a:bodyPr/>
          <a:lstStyle/>
          <a:p>
            <a:r>
              <a:rPr lang="en-US" dirty="0"/>
              <a:t>SIMTech</a:t>
            </a:r>
          </a:p>
        </p:txBody>
      </p:sp>
    </p:spTree>
    <p:extLst>
      <p:ext uri="{BB962C8B-B14F-4D97-AF65-F5344CB8AC3E}">
        <p14:creationId xmlns:p14="http://schemas.microsoft.com/office/powerpoint/2010/main" val="46547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885B9A-4274-04EA-2A9E-E29255FB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34892"/>
            <a:ext cx="10561173" cy="960107"/>
          </a:xfrm>
        </p:spPr>
        <p:txBody>
          <a:bodyPr/>
          <a:lstStyle/>
          <a:p>
            <a:r>
              <a:rPr lang="en-US" dirty="0"/>
              <a:t>Wall Number Convention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086B74-3F8F-379F-01B4-6E34E5AF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314450"/>
            <a:ext cx="5230176" cy="3566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69F594-30EF-DF98-A71F-59E446A4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600131" y="1314449"/>
            <a:ext cx="5230176" cy="35660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C83F0-1A58-C925-7D50-881297800843}"/>
              </a:ext>
            </a:extLst>
          </p:cNvPr>
          <p:cNvSpPr txBox="1"/>
          <p:nvPr/>
        </p:nvSpPr>
        <p:spPr>
          <a:xfrm>
            <a:off x="3402611" y="4880478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1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69B4A-45D2-C59B-1E0C-35141718416B}"/>
              </a:ext>
            </a:extLst>
          </p:cNvPr>
          <p:cNvSpPr txBox="1"/>
          <p:nvPr/>
        </p:nvSpPr>
        <p:spPr>
          <a:xfrm>
            <a:off x="1334425" y="3022581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2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1953D2-1072-A261-9C4F-1D2C641D69D9}"/>
              </a:ext>
            </a:extLst>
          </p:cNvPr>
          <p:cNvSpPr txBox="1"/>
          <p:nvPr/>
        </p:nvSpPr>
        <p:spPr>
          <a:xfrm>
            <a:off x="2123158" y="1510551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3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473B4-6EED-7150-6A74-29982FBE2D54}"/>
              </a:ext>
            </a:extLst>
          </p:cNvPr>
          <p:cNvSpPr txBox="1"/>
          <p:nvPr/>
        </p:nvSpPr>
        <p:spPr>
          <a:xfrm>
            <a:off x="3696251" y="1663748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4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7CF5D-517E-E4B7-FC18-F2F3257E0718}"/>
              </a:ext>
            </a:extLst>
          </p:cNvPr>
          <p:cNvSpPr txBox="1"/>
          <p:nvPr/>
        </p:nvSpPr>
        <p:spPr>
          <a:xfrm>
            <a:off x="5036087" y="2127461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5</a:t>
            </a:r>
            <a:endParaRPr lang="en-S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7C251F-7EA4-EDDE-F88A-B9625FDDE221}"/>
              </a:ext>
            </a:extLst>
          </p:cNvPr>
          <p:cNvSpPr txBox="1"/>
          <p:nvPr/>
        </p:nvSpPr>
        <p:spPr>
          <a:xfrm>
            <a:off x="5504524" y="3957146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6</a:t>
            </a:r>
            <a:endParaRPr lang="en-SG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1072576-DFBA-BD90-02DD-692A87CE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87" y="2504988"/>
            <a:ext cx="1438275" cy="12668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7BEA95E-0262-68DD-B8A2-AF130ADF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872" y="2192344"/>
            <a:ext cx="1438275" cy="12668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AA8DE47-2C13-6893-82CB-3ED44CC56EB1}"/>
              </a:ext>
            </a:extLst>
          </p:cNvPr>
          <p:cNvSpPr txBox="1"/>
          <p:nvPr/>
        </p:nvSpPr>
        <p:spPr>
          <a:xfrm>
            <a:off x="8803286" y="4880478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1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1AD38E-5FDB-0F25-967E-97282AF099F5}"/>
              </a:ext>
            </a:extLst>
          </p:cNvPr>
          <p:cNvSpPr txBox="1"/>
          <p:nvPr/>
        </p:nvSpPr>
        <p:spPr>
          <a:xfrm>
            <a:off x="6757156" y="3838857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2</a:t>
            </a:r>
            <a:endParaRPr lang="en-S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F5DAFD-7138-5AD1-9DCA-A20883119D2B}"/>
              </a:ext>
            </a:extLst>
          </p:cNvPr>
          <p:cNvSpPr txBox="1"/>
          <p:nvPr/>
        </p:nvSpPr>
        <p:spPr>
          <a:xfrm>
            <a:off x="7610136" y="2585280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3</a:t>
            </a:r>
            <a:endParaRPr lang="en-SG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C0CAF9-AE43-DFDD-32EF-6ACE3D78383E}"/>
              </a:ext>
            </a:extLst>
          </p:cNvPr>
          <p:cNvSpPr txBox="1"/>
          <p:nvPr/>
        </p:nvSpPr>
        <p:spPr>
          <a:xfrm>
            <a:off x="8501700" y="1966804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4</a:t>
            </a:r>
            <a:endParaRPr lang="en-S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C1FF0-D043-4756-4CF4-FA307DBC6A36}"/>
              </a:ext>
            </a:extLst>
          </p:cNvPr>
          <p:cNvSpPr txBox="1"/>
          <p:nvPr/>
        </p:nvSpPr>
        <p:spPr>
          <a:xfrm>
            <a:off x="10075017" y="1534765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5</a:t>
            </a:r>
            <a:endParaRPr lang="en-S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5E7F44-58E0-F67B-7ADA-010D02656862}"/>
              </a:ext>
            </a:extLst>
          </p:cNvPr>
          <p:cNvSpPr txBox="1"/>
          <p:nvPr/>
        </p:nvSpPr>
        <p:spPr>
          <a:xfrm>
            <a:off x="10807637" y="3124009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6</a:t>
            </a:r>
            <a:endParaRPr lang="en-SG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09F36C-B6C6-3C8D-6AF4-DA5F24265389}"/>
              </a:ext>
            </a:extLst>
          </p:cNvPr>
          <p:cNvCxnSpPr/>
          <p:nvPr/>
        </p:nvCxnSpPr>
        <p:spPr>
          <a:xfrm>
            <a:off x="1403287" y="4689695"/>
            <a:ext cx="434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22EBBB-BD8A-F028-0CA6-E32DABF4C3A5}"/>
              </a:ext>
            </a:extLst>
          </p:cNvPr>
          <p:cNvCxnSpPr>
            <a:cxnSpLocks/>
          </p:cNvCxnSpPr>
          <p:nvPr/>
        </p:nvCxnSpPr>
        <p:spPr>
          <a:xfrm rot="5400000">
            <a:off x="1186003" y="4906979"/>
            <a:ext cx="4345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AF8C3C8-6741-5C73-BA00-43B3DBDC4DBA}"/>
              </a:ext>
            </a:extLst>
          </p:cNvPr>
          <p:cNvCxnSpPr/>
          <p:nvPr/>
        </p:nvCxnSpPr>
        <p:spPr>
          <a:xfrm>
            <a:off x="6757156" y="4689695"/>
            <a:ext cx="434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94CE24F-5EF5-2CF8-6AE7-39FBDB64042C}"/>
              </a:ext>
            </a:extLst>
          </p:cNvPr>
          <p:cNvCxnSpPr>
            <a:cxnSpLocks/>
          </p:cNvCxnSpPr>
          <p:nvPr/>
        </p:nvCxnSpPr>
        <p:spPr>
          <a:xfrm rot="5400000">
            <a:off x="6539872" y="4906979"/>
            <a:ext cx="4345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7B7043DD-2616-4FFE-0711-B62525890EB6}"/>
              </a:ext>
            </a:extLst>
          </p:cNvPr>
          <p:cNvSpPr/>
          <p:nvPr/>
        </p:nvSpPr>
        <p:spPr>
          <a:xfrm rot="16200000">
            <a:off x="3338474" y="3033803"/>
            <a:ext cx="463254" cy="48888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53" name="Arrow: Circular 52">
            <a:extLst>
              <a:ext uri="{FF2B5EF4-FFF2-40B4-BE49-F238E27FC236}">
                <a16:creationId xmlns:a16="http://schemas.microsoft.com/office/drawing/2014/main" id="{818E4AA5-DF11-95A6-F128-4C4422A94A24}"/>
              </a:ext>
            </a:extLst>
          </p:cNvPr>
          <p:cNvSpPr/>
          <p:nvPr/>
        </p:nvSpPr>
        <p:spPr>
          <a:xfrm rot="16200000">
            <a:off x="9093939" y="3033803"/>
            <a:ext cx="463254" cy="488887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3BE4EF-A07F-8A73-6466-0A2E3F534D0F}"/>
              </a:ext>
            </a:extLst>
          </p:cNvPr>
          <p:cNvSpPr txBox="1"/>
          <p:nvPr/>
        </p:nvSpPr>
        <p:spPr>
          <a:xfrm>
            <a:off x="2118571" y="4453789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Door</a:t>
            </a:r>
            <a:endParaRPr lang="en-SG" dirty="0">
              <a:highlight>
                <a:srgbClr val="FFFF00"/>
              </a:highligh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8E699-A866-7590-95AA-1BA5625D097F}"/>
              </a:ext>
            </a:extLst>
          </p:cNvPr>
          <p:cNvSpPr txBox="1"/>
          <p:nvPr/>
        </p:nvSpPr>
        <p:spPr>
          <a:xfrm>
            <a:off x="10289147" y="4453789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Door</a:t>
            </a:r>
            <a:endParaRPr lang="en-SG" dirty="0">
              <a:highlight>
                <a:srgbClr val="FF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095108-E48E-46B1-5055-00C14AE85E79}"/>
              </a:ext>
            </a:extLst>
          </p:cNvPr>
          <p:cNvSpPr txBox="1"/>
          <p:nvPr/>
        </p:nvSpPr>
        <p:spPr>
          <a:xfrm>
            <a:off x="1253924" y="5039318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S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131D41-87EC-7B53-0E00-BA0ABB8B9789}"/>
              </a:ext>
            </a:extLst>
          </p:cNvPr>
          <p:cNvSpPr txBox="1"/>
          <p:nvPr/>
        </p:nvSpPr>
        <p:spPr>
          <a:xfrm>
            <a:off x="6612301" y="5065144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SG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EC3094-3A63-C9CB-DA9F-6ADB35E7B867}"/>
              </a:ext>
            </a:extLst>
          </p:cNvPr>
          <p:cNvSpPr txBox="1"/>
          <p:nvPr/>
        </p:nvSpPr>
        <p:spPr>
          <a:xfrm>
            <a:off x="1783552" y="4453789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endParaRPr lang="en-SG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3FB44F-8899-234C-9925-6DF089DAC7F2}"/>
              </a:ext>
            </a:extLst>
          </p:cNvPr>
          <p:cNvSpPr txBox="1"/>
          <p:nvPr/>
        </p:nvSpPr>
        <p:spPr>
          <a:xfrm>
            <a:off x="7130529" y="4453789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endParaRPr lang="en-SG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CD82978-DEE8-B3A8-7234-BBAA67F32698}"/>
              </a:ext>
            </a:extLst>
          </p:cNvPr>
          <p:cNvSpPr/>
          <p:nvPr/>
        </p:nvSpPr>
        <p:spPr>
          <a:xfrm>
            <a:off x="1330878" y="4597688"/>
            <a:ext cx="157243" cy="15724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CDCEEAC-5DD9-12FF-8B24-8A45E81AC085}"/>
              </a:ext>
            </a:extLst>
          </p:cNvPr>
          <p:cNvSpPr/>
          <p:nvPr/>
        </p:nvSpPr>
        <p:spPr>
          <a:xfrm>
            <a:off x="1389480" y="4653028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A4C21C7-DA0F-5018-3BAE-3F8115BCC1A6}"/>
              </a:ext>
            </a:extLst>
          </p:cNvPr>
          <p:cNvSpPr/>
          <p:nvPr/>
        </p:nvSpPr>
        <p:spPr>
          <a:xfrm>
            <a:off x="6683189" y="4611494"/>
            <a:ext cx="157243" cy="15724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8C97451-2716-3EE7-7E57-5DF415AC27F3}"/>
              </a:ext>
            </a:extLst>
          </p:cNvPr>
          <p:cNvSpPr/>
          <p:nvPr/>
        </p:nvSpPr>
        <p:spPr>
          <a:xfrm>
            <a:off x="6741791" y="4666834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5B4FB2-AFD7-10DD-D0E5-9CD30F3F82FD}"/>
              </a:ext>
            </a:extLst>
          </p:cNvPr>
          <p:cNvSpPr txBox="1"/>
          <p:nvPr/>
        </p:nvSpPr>
        <p:spPr>
          <a:xfrm>
            <a:off x="1062994" y="4466987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endParaRPr lang="en-SG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DA060E-4C8A-0608-A1A7-883A6741795F}"/>
              </a:ext>
            </a:extLst>
          </p:cNvPr>
          <p:cNvSpPr txBox="1"/>
          <p:nvPr/>
        </p:nvSpPr>
        <p:spPr>
          <a:xfrm>
            <a:off x="6443026" y="4474567"/>
            <a:ext cx="59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</a:t>
            </a:r>
            <a:endParaRPr lang="en-SG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FF58C32-A64A-A659-D700-17D952CC24DE}"/>
              </a:ext>
            </a:extLst>
          </p:cNvPr>
          <p:cNvCxnSpPr/>
          <p:nvPr/>
        </p:nvCxnSpPr>
        <p:spPr>
          <a:xfrm>
            <a:off x="1389480" y="3046619"/>
            <a:ext cx="4345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BD77C0B-4B85-5101-DEA3-97EBD4D74271}"/>
              </a:ext>
            </a:extLst>
          </p:cNvPr>
          <p:cNvCxnSpPr>
            <a:cxnSpLocks/>
          </p:cNvCxnSpPr>
          <p:nvPr/>
        </p:nvCxnSpPr>
        <p:spPr>
          <a:xfrm rot="5400000">
            <a:off x="1172196" y="3263903"/>
            <a:ext cx="4345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27192362-8500-0A28-8C60-D95515D23F87}"/>
              </a:ext>
            </a:extLst>
          </p:cNvPr>
          <p:cNvSpPr/>
          <p:nvPr/>
        </p:nvSpPr>
        <p:spPr>
          <a:xfrm>
            <a:off x="1317071" y="2954612"/>
            <a:ext cx="157243" cy="15724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44F10C2-A439-965E-7F7A-265735569693}"/>
              </a:ext>
            </a:extLst>
          </p:cNvPr>
          <p:cNvSpPr/>
          <p:nvPr/>
        </p:nvSpPr>
        <p:spPr>
          <a:xfrm>
            <a:off x="1375673" y="3009952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8FEA8EB-5C74-4824-F934-F55519475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363435" y="1375788"/>
            <a:ext cx="664522" cy="70559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6FF37DB-85A9-391E-D308-C723CA03D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023774" y="1432736"/>
            <a:ext cx="664522" cy="70559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3FBFFBB-F9E1-073E-6BB0-C806E43F3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58006" y="2412407"/>
            <a:ext cx="664522" cy="70559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FF33B48-AF72-2804-9CF6-8A177A8AF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21393" y="2925451"/>
            <a:ext cx="664522" cy="70559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70B7BAF-0E32-A2FC-932E-0EE2E03B6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32794" y="4114192"/>
            <a:ext cx="664522" cy="70559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29705817-E57B-FF0B-8129-CC478D91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176510" y="4103466"/>
            <a:ext cx="664522" cy="70559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85DB1FE-2EF7-408E-BAE0-62EEA968C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1087034" y="2549861"/>
            <a:ext cx="664522" cy="70559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394D8DC-6622-DAC6-8D40-EFB85A480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516838" y="1359060"/>
            <a:ext cx="664522" cy="70559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B869297-93FE-EBD2-668E-371C83C78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382" y="1846336"/>
            <a:ext cx="664522" cy="664522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B342289-D425-2FB2-CF92-041B441A5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882" y="3459169"/>
            <a:ext cx="664522" cy="66452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523AFB98-96F4-7762-6D82-8D7798C4C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26700" y="2412407"/>
            <a:ext cx="664522" cy="7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182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53A6-48C0-B4D1-1CF6-6AD75044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Placement in PBU</a:t>
            </a:r>
            <a:endParaRPr lang="en-SG" dirty="0"/>
          </a:p>
        </p:txBody>
      </p:sp>
      <p:pic>
        <p:nvPicPr>
          <p:cNvPr id="5" name="Picture 4" descr="A computer generated image of a robot&#10;&#10;AI-generated content may be incorrect.">
            <a:extLst>
              <a:ext uri="{FF2B5EF4-FFF2-40B4-BE49-F238E27FC236}">
                <a16:creationId xmlns:a16="http://schemas.microsoft.com/office/drawing/2014/main" id="{52D7B917-376B-81F6-A0A1-F51843B4E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98" y="883840"/>
            <a:ext cx="3803682" cy="2542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6DE6D2-E915-D2AA-5213-2BC29EC548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680" y="883841"/>
            <a:ext cx="3699271" cy="2542356"/>
          </a:xfrm>
          <a:prstGeom prst="rect">
            <a:avLst/>
          </a:prstGeom>
        </p:spPr>
      </p:pic>
      <p:pic>
        <p:nvPicPr>
          <p:cNvPr id="9" name="Picture 8" descr="A computer generated image of a robot&#10;&#10;AI-generated content may be incorrect.">
            <a:extLst>
              <a:ext uri="{FF2B5EF4-FFF2-40B4-BE49-F238E27FC236}">
                <a16:creationId xmlns:a16="http://schemas.microsoft.com/office/drawing/2014/main" id="{94DBFE68-0EE9-2120-6C6E-C28C77671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051" y="883840"/>
            <a:ext cx="3699271" cy="2525977"/>
          </a:xfrm>
          <a:prstGeom prst="rect">
            <a:avLst/>
          </a:prstGeom>
        </p:spPr>
      </p:pic>
      <p:pic>
        <p:nvPicPr>
          <p:cNvPr id="11" name="Picture 10" descr="A computer generated image of a robot&#10;&#10;AI-generated content may be incorrect.">
            <a:extLst>
              <a:ext uri="{FF2B5EF4-FFF2-40B4-BE49-F238E27FC236}">
                <a16:creationId xmlns:a16="http://schemas.microsoft.com/office/drawing/2014/main" id="{B4E79385-FCF1-0039-C9F9-49AF08CE26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98" y="3549480"/>
            <a:ext cx="3803682" cy="2563672"/>
          </a:xfrm>
          <a:prstGeom prst="rect">
            <a:avLst/>
          </a:prstGeom>
        </p:spPr>
      </p:pic>
      <p:pic>
        <p:nvPicPr>
          <p:cNvPr id="13" name="Picture 12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471DB30B-4331-8BB8-5C54-EC5F2E68A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680" y="3549480"/>
            <a:ext cx="3699271" cy="2563671"/>
          </a:xfrm>
          <a:prstGeom prst="rect">
            <a:avLst/>
          </a:prstGeom>
        </p:spPr>
      </p:pic>
      <p:pic>
        <p:nvPicPr>
          <p:cNvPr id="15" name="Picture 14" descr="A drawing of a machine&#10;&#10;AI-generated content may be incorrect.">
            <a:extLst>
              <a:ext uri="{FF2B5EF4-FFF2-40B4-BE49-F238E27FC236}">
                <a16:creationId xmlns:a16="http://schemas.microsoft.com/office/drawing/2014/main" id="{CFAFE525-03CA-E975-85BC-860E1032E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051" y="3549480"/>
            <a:ext cx="3698030" cy="25636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E02D10-5E69-126B-4BCB-2FC52792A4C4}"/>
              </a:ext>
            </a:extLst>
          </p:cNvPr>
          <p:cNvSpPr txBox="1"/>
          <p:nvPr/>
        </p:nvSpPr>
        <p:spPr>
          <a:xfrm>
            <a:off x="2366806" y="2933982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1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025BEC-FE16-58EB-25EB-34D94D093BA5}"/>
              </a:ext>
            </a:extLst>
          </p:cNvPr>
          <p:cNvSpPr txBox="1"/>
          <p:nvPr/>
        </p:nvSpPr>
        <p:spPr>
          <a:xfrm>
            <a:off x="6310156" y="2933841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2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718A6E-FAE6-1693-E504-B048C4F65ED2}"/>
              </a:ext>
            </a:extLst>
          </p:cNvPr>
          <p:cNvSpPr txBox="1"/>
          <p:nvPr/>
        </p:nvSpPr>
        <p:spPr>
          <a:xfrm>
            <a:off x="9893133" y="2933982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3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B5052-2F6A-CB4E-9289-64E2D4E0F527}"/>
              </a:ext>
            </a:extLst>
          </p:cNvPr>
          <p:cNvSpPr txBox="1"/>
          <p:nvPr/>
        </p:nvSpPr>
        <p:spPr>
          <a:xfrm>
            <a:off x="2366806" y="5637235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4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B4E262-7C40-33D4-6A95-3B5ED3C761E3}"/>
              </a:ext>
            </a:extLst>
          </p:cNvPr>
          <p:cNvSpPr txBox="1"/>
          <p:nvPr/>
        </p:nvSpPr>
        <p:spPr>
          <a:xfrm>
            <a:off x="6310156" y="5637235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5</a:t>
            </a:r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93056E-9A54-7973-D6E7-F9F5B0BBC493}"/>
              </a:ext>
            </a:extLst>
          </p:cNvPr>
          <p:cNvSpPr txBox="1"/>
          <p:nvPr/>
        </p:nvSpPr>
        <p:spPr>
          <a:xfrm>
            <a:off x="9893133" y="5637235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6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9258696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A971-2CAC-7F28-EE89-F2F0CC38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12717-5308-DFD1-406B-E82C76BE2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538" y="1058589"/>
            <a:ext cx="5205913" cy="53185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2218AB-65B5-DD25-ABC5-C3C44D3D26DC}"/>
              </a:ext>
            </a:extLst>
          </p:cNvPr>
          <p:cNvSpPr txBox="1"/>
          <p:nvPr/>
        </p:nvSpPr>
        <p:spPr>
          <a:xfrm>
            <a:off x="5359954" y="568486"/>
            <a:ext cx="573088" cy="33855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  <a:effectLst>
                  <a:glow rad="25400">
                    <a:schemeClr val="bg1"/>
                  </a:glow>
                </a:effectLst>
              </a:rPr>
              <a:t>950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94D68B-E79A-16D5-DE9E-76B99F39E9D5}"/>
              </a:ext>
            </a:extLst>
          </p:cNvPr>
          <p:cNvCxnSpPr/>
          <p:nvPr/>
        </p:nvCxnSpPr>
        <p:spPr>
          <a:xfrm>
            <a:off x="4118552" y="2818773"/>
            <a:ext cx="1440160" cy="0"/>
          </a:xfrm>
          <a:prstGeom prst="line">
            <a:avLst/>
          </a:prstGeom>
          <a:noFill/>
          <a:ln>
            <a:solidFill>
              <a:srgbClr val="0000FF"/>
            </a:solidFill>
            <a:prstDash val="dashDot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13D746-E1AF-E64B-B1D4-A9B9EAB1B98E}"/>
              </a:ext>
            </a:extLst>
          </p:cNvPr>
          <p:cNvCxnSpPr>
            <a:cxnSpLocks/>
          </p:cNvCxnSpPr>
          <p:nvPr/>
        </p:nvCxnSpPr>
        <p:spPr>
          <a:xfrm rot="5400000">
            <a:off x="4132842" y="2869525"/>
            <a:ext cx="1440160" cy="0"/>
          </a:xfrm>
          <a:prstGeom prst="line">
            <a:avLst/>
          </a:prstGeom>
          <a:noFill/>
          <a:ln>
            <a:solidFill>
              <a:srgbClr val="0000FF"/>
            </a:solidFill>
            <a:prstDash val="dashDot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E4F9A7-5D9D-00D6-8557-F9666DC4C089}"/>
              </a:ext>
            </a:extLst>
          </p:cNvPr>
          <p:cNvCxnSpPr>
            <a:cxnSpLocks/>
          </p:cNvCxnSpPr>
          <p:nvPr/>
        </p:nvCxnSpPr>
        <p:spPr>
          <a:xfrm>
            <a:off x="4852922" y="936512"/>
            <a:ext cx="1584176" cy="0"/>
          </a:xfrm>
          <a:prstGeom prst="straightConnector1">
            <a:avLst/>
          </a:prstGeom>
          <a:noFill/>
          <a:ln>
            <a:solidFill>
              <a:srgbClr val="0000FF"/>
            </a:solidFill>
            <a:prstDash val="solid"/>
            <a:headEnd type="arrow" w="med" len="lg"/>
            <a:tailEnd type="arrow" w="med" len="lg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B0B594-8C40-5257-5D85-9D0CA69653BB}"/>
              </a:ext>
            </a:extLst>
          </p:cNvPr>
          <p:cNvCxnSpPr>
            <a:cxnSpLocks/>
          </p:cNvCxnSpPr>
          <p:nvPr/>
        </p:nvCxnSpPr>
        <p:spPr>
          <a:xfrm>
            <a:off x="4852922" y="818618"/>
            <a:ext cx="0" cy="1330827"/>
          </a:xfrm>
          <a:prstGeom prst="line">
            <a:avLst/>
          </a:prstGeom>
          <a:noFill/>
          <a:ln>
            <a:solidFill>
              <a:srgbClr val="0000FF"/>
            </a:solidFill>
            <a:prstDash val="solid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10CF90-A9E7-E42F-BE37-FCB583F059DC}"/>
              </a:ext>
            </a:extLst>
          </p:cNvPr>
          <p:cNvCxnSpPr>
            <a:cxnSpLocks/>
          </p:cNvCxnSpPr>
          <p:nvPr/>
        </p:nvCxnSpPr>
        <p:spPr>
          <a:xfrm>
            <a:off x="6437098" y="818618"/>
            <a:ext cx="0" cy="378134"/>
          </a:xfrm>
          <a:prstGeom prst="line">
            <a:avLst/>
          </a:prstGeom>
          <a:noFill/>
          <a:ln>
            <a:solidFill>
              <a:srgbClr val="0000FF"/>
            </a:solidFill>
            <a:prstDash val="solid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BF2197-FD22-C862-FEA3-ED4E313BB3DC}"/>
              </a:ext>
            </a:extLst>
          </p:cNvPr>
          <p:cNvGrpSpPr/>
          <p:nvPr/>
        </p:nvGrpSpPr>
        <p:grpSpPr>
          <a:xfrm rot="16200000">
            <a:off x="2744494" y="1454648"/>
            <a:ext cx="1584177" cy="1163938"/>
            <a:chOff x="7608167" y="502231"/>
            <a:chExt cx="1584177" cy="116393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10240F-973F-4475-E3F7-432E94BCDCCC}"/>
                </a:ext>
              </a:extLst>
            </p:cNvPr>
            <p:cNvSpPr txBox="1"/>
            <p:nvPr/>
          </p:nvSpPr>
          <p:spPr>
            <a:xfrm>
              <a:off x="8047033" y="502231"/>
              <a:ext cx="7094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  <a:effectLst>
                    <a:glow rad="25400">
                      <a:schemeClr val="bg1"/>
                    </a:glow>
                  </a:effectLst>
                </a:rPr>
                <a:t>950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D8B36D9-1624-697E-ED3B-EDF455128CC1}"/>
                </a:ext>
              </a:extLst>
            </p:cNvPr>
            <p:cNvCxnSpPr>
              <a:cxnSpLocks/>
            </p:cNvCxnSpPr>
            <p:nvPr/>
          </p:nvCxnSpPr>
          <p:spPr>
            <a:xfrm>
              <a:off x="7608168" y="870256"/>
              <a:ext cx="1584176" cy="0"/>
            </a:xfrm>
            <a:prstGeom prst="straightConnector1">
              <a:avLst/>
            </a:prstGeom>
            <a:noFill/>
            <a:ln>
              <a:solidFill>
                <a:srgbClr val="0000FF"/>
              </a:solidFill>
              <a:prstDash val="solid"/>
              <a:headEnd type="arrow" w="med" len="lg"/>
              <a:tailEnd type="arrow" w="med" len="lg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1961E58-662D-CE73-FFE0-C138121EE51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51263" y="1209266"/>
              <a:ext cx="913807" cy="0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B82FC13-0127-46DD-9E87-F698999A0ED3}"/>
                </a:ext>
              </a:extLst>
            </p:cNvPr>
            <p:cNvCxnSpPr>
              <a:cxnSpLocks/>
            </p:cNvCxnSpPr>
            <p:nvPr/>
          </p:nvCxnSpPr>
          <p:spPr>
            <a:xfrm>
              <a:off x="9192344" y="752362"/>
              <a:ext cx="0" cy="378134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92E27F-5AFD-736E-1C73-D04BF9CD4759}"/>
              </a:ext>
            </a:extLst>
          </p:cNvPr>
          <p:cNvGrpSpPr/>
          <p:nvPr/>
        </p:nvGrpSpPr>
        <p:grpSpPr>
          <a:xfrm rot="5400000" flipH="1">
            <a:off x="5325176" y="2475941"/>
            <a:ext cx="1044726" cy="628265"/>
            <a:chOff x="7608165" y="502231"/>
            <a:chExt cx="1584179" cy="62826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C93FF1-32B3-6EE2-9E2E-DC5F760B17F4}"/>
                </a:ext>
              </a:extLst>
            </p:cNvPr>
            <p:cNvSpPr txBox="1"/>
            <p:nvPr/>
          </p:nvSpPr>
          <p:spPr>
            <a:xfrm>
              <a:off x="7990855" y="502231"/>
              <a:ext cx="82177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  <a:effectLst>
                    <a:glow rad="25400">
                      <a:schemeClr val="bg1"/>
                    </a:glow>
                  </a:effectLst>
                </a:rPr>
                <a:t>650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960B210-B1D2-7630-314E-F1918CED0D00}"/>
                </a:ext>
              </a:extLst>
            </p:cNvPr>
            <p:cNvCxnSpPr>
              <a:cxnSpLocks/>
            </p:cNvCxnSpPr>
            <p:nvPr/>
          </p:nvCxnSpPr>
          <p:spPr>
            <a:xfrm>
              <a:off x="7608168" y="870256"/>
              <a:ext cx="1584176" cy="0"/>
            </a:xfrm>
            <a:prstGeom prst="straightConnector1">
              <a:avLst/>
            </a:prstGeom>
            <a:noFill/>
            <a:ln>
              <a:solidFill>
                <a:srgbClr val="0000FF"/>
              </a:solidFill>
              <a:prstDash val="solid"/>
              <a:headEnd type="arrow" w="med" len="lg"/>
              <a:tailEnd type="arrow" w="med" len="lg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332120B-8077-AEED-C6A2-885A46B6D2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19098" y="941429"/>
              <a:ext cx="378134" cy="0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34E850B-B0FE-70BB-A8E2-768B69198AE1}"/>
                </a:ext>
              </a:extLst>
            </p:cNvPr>
            <p:cNvCxnSpPr>
              <a:cxnSpLocks/>
            </p:cNvCxnSpPr>
            <p:nvPr/>
          </p:nvCxnSpPr>
          <p:spPr>
            <a:xfrm>
              <a:off x="9192344" y="752362"/>
              <a:ext cx="0" cy="378134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A597CB-0477-9603-7696-72BCCD8DDEBF}"/>
              </a:ext>
            </a:extLst>
          </p:cNvPr>
          <p:cNvGrpSpPr/>
          <p:nvPr/>
        </p:nvGrpSpPr>
        <p:grpSpPr>
          <a:xfrm rot="10800000" flipH="1">
            <a:off x="4329795" y="3397547"/>
            <a:ext cx="1046254" cy="628265"/>
            <a:chOff x="7608165" y="502231"/>
            <a:chExt cx="1584179" cy="62826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6FF1C0-6622-2832-526D-F4E10708EAB8}"/>
                </a:ext>
              </a:extLst>
            </p:cNvPr>
            <p:cNvSpPr txBox="1"/>
            <p:nvPr/>
          </p:nvSpPr>
          <p:spPr>
            <a:xfrm rot="10800000">
              <a:off x="7990854" y="502231"/>
              <a:ext cx="82177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FF"/>
                  </a:solidFill>
                  <a:effectLst>
                    <a:glow rad="25400">
                      <a:schemeClr val="bg1"/>
                    </a:glow>
                  </a:effectLst>
                </a:rPr>
                <a:t>650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F5178E1-3F05-5D2A-A197-13A1A27A3B93}"/>
                </a:ext>
              </a:extLst>
            </p:cNvPr>
            <p:cNvCxnSpPr>
              <a:cxnSpLocks/>
            </p:cNvCxnSpPr>
            <p:nvPr/>
          </p:nvCxnSpPr>
          <p:spPr>
            <a:xfrm>
              <a:off x="7608168" y="870256"/>
              <a:ext cx="1584176" cy="0"/>
            </a:xfrm>
            <a:prstGeom prst="straightConnector1">
              <a:avLst/>
            </a:prstGeom>
            <a:noFill/>
            <a:ln>
              <a:solidFill>
                <a:srgbClr val="0000FF"/>
              </a:solidFill>
              <a:prstDash val="solid"/>
              <a:headEnd type="arrow" w="med" len="lg"/>
              <a:tailEnd type="arrow" w="med" len="lg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A9291EA-FF29-9D22-A040-E72BD03A186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19098" y="941429"/>
              <a:ext cx="378134" cy="0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4FEB994-536E-B0E8-D965-5BF4B831D0C6}"/>
                </a:ext>
              </a:extLst>
            </p:cNvPr>
            <p:cNvCxnSpPr>
              <a:cxnSpLocks/>
            </p:cNvCxnSpPr>
            <p:nvPr/>
          </p:nvCxnSpPr>
          <p:spPr>
            <a:xfrm>
              <a:off x="9192344" y="752362"/>
              <a:ext cx="0" cy="378134"/>
            </a:xfrm>
            <a:prstGeom prst="line">
              <a:avLst/>
            </a:prstGeom>
            <a:noFill/>
            <a:ln>
              <a:solidFill>
                <a:srgbClr val="0000FF"/>
              </a:solidFill>
              <a:prstDash val="solid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91052D5-43C7-0CDC-4D05-F3AB52E19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035" y="936512"/>
            <a:ext cx="2341968" cy="2068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75A04B-0FEF-9533-9FC1-2F9F2C5A5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328" y="3029532"/>
            <a:ext cx="4870913" cy="3347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6B23DA-EC4F-784B-F61F-AC89880E0A29}"/>
              </a:ext>
            </a:extLst>
          </p:cNvPr>
          <p:cNvSpPr txBox="1"/>
          <p:nvPr/>
        </p:nvSpPr>
        <p:spPr>
          <a:xfrm>
            <a:off x="9077934" y="5813262"/>
            <a:ext cx="82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Wall 2</a:t>
            </a:r>
            <a:endParaRPr lang="en-SG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5D167B7-A4F9-7694-BD92-7ADDB963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34892"/>
            <a:ext cx="10561173" cy="960107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Previous Studies Compared to Current Pose Placement</a:t>
            </a:r>
            <a:endParaRPr lang="en-SG" dirty="0">
              <a:solidFill>
                <a:srgbClr val="00B05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1B9B69-29DB-F32C-BD70-49DF84A8036B}"/>
              </a:ext>
            </a:extLst>
          </p:cNvPr>
          <p:cNvSpPr/>
          <p:nvPr/>
        </p:nvSpPr>
        <p:spPr>
          <a:xfrm>
            <a:off x="7944606" y="3727288"/>
            <a:ext cx="1027378" cy="3168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850 mm</a:t>
            </a:r>
            <a:endParaRPr lang="en-SG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13E1B0-E924-D310-D235-C45FFA3B9815}"/>
              </a:ext>
            </a:extLst>
          </p:cNvPr>
          <p:cNvCxnSpPr>
            <a:stCxn id="26" idx="2"/>
          </p:cNvCxnSpPr>
          <p:nvPr/>
        </p:nvCxnSpPr>
        <p:spPr>
          <a:xfrm flipH="1">
            <a:off x="8311272" y="4044159"/>
            <a:ext cx="147023" cy="4825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F0FA61-BCA2-D99E-45EE-C66FA03E12C4}"/>
              </a:ext>
            </a:extLst>
          </p:cNvPr>
          <p:cNvSpPr txBox="1"/>
          <p:nvPr/>
        </p:nvSpPr>
        <p:spPr>
          <a:xfrm>
            <a:off x="903209" y="6408839"/>
            <a:ext cx="6192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3m x 3m PBU Wall Marking Robot Pose Recommendation</a:t>
            </a:r>
            <a:endParaRPr lang="en-SG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C1B5EF-5049-6D03-3F3C-EF27F65D7213}"/>
              </a:ext>
            </a:extLst>
          </p:cNvPr>
          <p:cNvSpPr txBox="1"/>
          <p:nvPr/>
        </p:nvSpPr>
        <p:spPr>
          <a:xfrm>
            <a:off x="7989964" y="6377109"/>
            <a:ext cx="299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PBU Robot Pose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298182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CBED9A9-741A-4BBD-AAB9-C1FE7AE61672}"/>
              </a:ext>
            </a:extLst>
          </p:cNvPr>
          <p:cNvSpPr txBox="1">
            <a:spLocks/>
          </p:cNvSpPr>
          <p:nvPr/>
        </p:nvSpPr>
        <p:spPr>
          <a:xfrm>
            <a:off x="839416" y="18736"/>
            <a:ext cx="10752666" cy="6011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1219170" rtl="0" eaLnBrk="1" latinLnBrk="0" hangingPunct="1">
              <a:spcBef>
                <a:spcPct val="0"/>
              </a:spcBef>
              <a:buNone/>
              <a:defRPr sz="2667" b="1" kern="1200" baseline="0">
                <a:solidFill>
                  <a:srgbClr val="003087"/>
                </a:solidFill>
                <a:latin typeface="Open Sans"/>
                <a:ea typeface="+mj-ea"/>
                <a:cs typeface="Open Sans"/>
              </a:defRPr>
            </a:lvl1pPr>
          </a:lstStyle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34CCD-934C-2115-F999-F63C7E62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1412776"/>
            <a:ext cx="4877481" cy="4944165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12C369E-933A-9ECD-FB14-38417656E776}"/>
              </a:ext>
            </a:extLst>
          </p:cNvPr>
          <p:cNvSpPr/>
          <p:nvPr/>
        </p:nvSpPr>
        <p:spPr>
          <a:xfrm>
            <a:off x="2201676" y="979909"/>
            <a:ext cx="4489452" cy="4294128"/>
          </a:xfrm>
          <a:prstGeom prst="ellipse">
            <a:avLst/>
          </a:prstGeom>
          <a:noFill/>
          <a:ln>
            <a:solidFill>
              <a:srgbClr val="0000FF"/>
            </a:solidFill>
            <a:prstDash val="sysDash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A99FA3-B3D4-C9B6-D654-EA18142CDB47}"/>
              </a:ext>
            </a:extLst>
          </p:cNvPr>
          <p:cNvCxnSpPr>
            <a:cxnSpLocks/>
          </p:cNvCxnSpPr>
          <p:nvPr/>
        </p:nvCxnSpPr>
        <p:spPr>
          <a:xfrm rot="-1800000">
            <a:off x="2201676" y="3126973"/>
            <a:ext cx="4489452" cy="0"/>
          </a:xfrm>
          <a:prstGeom prst="straightConnector1">
            <a:avLst/>
          </a:prstGeom>
          <a:noFill/>
          <a:ln>
            <a:solidFill>
              <a:srgbClr val="0000FF"/>
            </a:solidFill>
            <a:prstDash val="solid"/>
            <a:headEnd type="arrow" w="med" len="lg"/>
            <a:tailEnd type="arrow" w="med" len="lg"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9D94F58-5F84-D4BD-F296-57C05FC30ADB}"/>
              </a:ext>
            </a:extLst>
          </p:cNvPr>
          <p:cNvSpPr txBox="1"/>
          <p:nvPr/>
        </p:nvSpPr>
        <p:spPr>
          <a:xfrm rot="-1800000">
            <a:off x="2885549" y="3825732"/>
            <a:ext cx="1101584" cy="338554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00FF"/>
                </a:solidFill>
                <a:effectLst>
                  <a:glow rad="25400">
                    <a:schemeClr val="bg1"/>
                  </a:glow>
                </a:effectLst>
              </a:rPr>
              <a:t>~DIA2920</a:t>
            </a:r>
            <a:endParaRPr lang="en-SG" sz="1600" dirty="0">
              <a:solidFill>
                <a:srgbClr val="0000FF"/>
              </a:solidFill>
              <a:effectLst>
                <a:glow rad="25400">
                  <a:schemeClr val="bg1"/>
                </a:glow>
              </a:effectLs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FBBC8FF-A5EB-784C-D678-3783960874D0}"/>
              </a:ext>
            </a:extLst>
          </p:cNvPr>
          <p:cNvGrpSpPr/>
          <p:nvPr/>
        </p:nvGrpSpPr>
        <p:grpSpPr>
          <a:xfrm>
            <a:off x="7079157" y="979909"/>
            <a:ext cx="4754945" cy="4143785"/>
            <a:chOff x="8080015" y="1556791"/>
            <a:chExt cx="3437612" cy="299577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CEF6894-76AC-B12C-F845-C6BB58B66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3021" y="1804357"/>
              <a:ext cx="2752855" cy="2748205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03F056-82F3-1BE9-B3D4-80572668884A}"/>
                </a:ext>
              </a:extLst>
            </p:cNvPr>
            <p:cNvSpPr/>
            <p:nvPr/>
          </p:nvSpPr>
          <p:spPr>
            <a:xfrm>
              <a:off x="9015116" y="1556792"/>
              <a:ext cx="2502511" cy="2393635"/>
            </a:xfrm>
            <a:prstGeom prst="ellipse">
              <a:avLst/>
            </a:prstGeom>
            <a:noFill/>
            <a:ln>
              <a:solidFill>
                <a:srgbClr val="0000FF"/>
              </a:solidFill>
              <a:prstDash val="sysDash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630DD77-C085-6BCE-EEE0-A99BD75C8021}"/>
                </a:ext>
              </a:extLst>
            </p:cNvPr>
            <p:cNvSpPr/>
            <p:nvPr/>
          </p:nvSpPr>
          <p:spPr>
            <a:xfrm>
              <a:off x="8083520" y="1556791"/>
              <a:ext cx="2502511" cy="2393635"/>
            </a:xfrm>
            <a:prstGeom prst="ellipse">
              <a:avLst/>
            </a:prstGeom>
            <a:noFill/>
            <a:ln>
              <a:solidFill>
                <a:srgbClr val="00B050"/>
              </a:solidFill>
              <a:prstDash val="sysDash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14A6048-FDC9-3184-9A97-AFCC205651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44940" y="2565400"/>
              <a:ext cx="1254760" cy="160020"/>
            </a:xfrm>
            <a:prstGeom prst="straightConnector1">
              <a:avLst/>
            </a:prstGeom>
            <a:noFill/>
            <a:ln>
              <a:solidFill>
                <a:srgbClr val="0000FF"/>
              </a:solidFill>
              <a:prstDash val="solid"/>
              <a:headEnd type="none" w="med" len="lg"/>
              <a:tailEnd type="arrow" w="med" len="lg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D3389AB-AEEC-A2CF-C29C-BBC5D00C25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80015" y="2562743"/>
              <a:ext cx="1254760" cy="160020"/>
            </a:xfrm>
            <a:prstGeom prst="straightConnector1">
              <a:avLst/>
            </a:prstGeom>
            <a:noFill/>
            <a:ln>
              <a:solidFill>
                <a:srgbClr val="00B050"/>
              </a:solidFill>
              <a:prstDash val="solid"/>
              <a:headEnd type="none" w="med" len="lg"/>
              <a:tailEnd type="arrow" w="med" len="lg"/>
            </a:ln>
            <a:effectLst>
              <a:glow rad="25400">
                <a:schemeClr val="bg1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E11ABEEF-D290-A86E-DE65-534D02BB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34892"/>
            <a:ext cx="10561173" cy="960107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Marking Robot System – Floor Marking Coverage Est.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CBC17-C7CB-B7BB-6F56-2FAB10F2E06A}"/>
              </a:ext>
            </a:extLst>
          </p:cNvPr>
          <p:cNvSpPr txBox="1"/>
          <p:nvPr/>
        </p:nvSpPr>
        <p:spPr>
          <a:xfrm>
            <a:off x="7608935" y="5591384"/>
            <a:ext cx="340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Note:</a:t>
            </a:r>
          </a:p>
          <a:p>
            <a:r>
              <a:rPr lang="en-US" sz="1200" dirty="0"/>
              <a:t>Estimation done in initial stage of project</a:t>
            </a:r>
          </a:p>
        </p:txBody>
      </p:sp>
    </p:spTree>
    <p:extLst>
      <p:ext uri="{BB962C8B-B14F-4D97-AF65-F5344CB8AC3E}">
        <p14:creationId xmlns:p14="http://schemas.microsoft.com/office/powerpoint/2010/main" val="311270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F277-7F24-82C0-E46A-538241C8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 of Floor Markings from Robot Positions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7B314B-278F-13E1-65E4-F37CB4407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04424"/>
              </p:ext>
            </p:extLst>
          </p:nvPr>
        </p:nvGraphicFramePr>
        <p:xfrm>
          <a:off x="5853417" y="1311275"/>
          <a:ext cx="2717800" cy="4235450"/>
        </p:xfrm>
        <a:graphic>
          <a:graphicData uri="http://schemas.openxmlformats.org/drawingml/2006/table">
            <a:tbl>
              <a:tblPr/>
              <a:tblGrid>
                <a:gridCol w="203200">
                  <a:extLst>
                    <a:ext uri="{9D8B030D-6E8A-4147-A177-3AD203B41FA5}">
                      <a16:colId xmlns:a16="http://schemas.microsoft.com/office/drawing/2014/main" val="2447172538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6263592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61273069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50681198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31951253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192714217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37299787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Wall 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305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9534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5316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0344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5504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0797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6468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3326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6641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588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1507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57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5923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7233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3837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3967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8294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5302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261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7362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6222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498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59499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3774573-AE0F-B509-8A70-3BBCC7CC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17" y="933922"/>
            <a:ext cx="4274160" cy="2878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9007B7-EF00-6A95-4327-6279A7AEC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88" y="3862105"/>
            <a:ext cx="4274160" cy="289630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D972FD0-5407-35AA-0B52-18B83C65C501}"/>
              </a:ext>
            </a:extLst>
          </p:cNvPr>
          <p:cNvSpPr/>
          <p:nvPr/>
        </p:nvSpPr>
        <p:spPr>
          <a:xfrm>
            <a:off x="2070404" y="1761474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2542E1F-4206-4830-89E1-B149914E777F}"/>
              </a:ext>
            </a:extLst>
          </p:cNvPr>
          <p:cNvSpPr/>
          <p:nvPr/>
        </p:nvSpPr>
        <p:spPr>
          <a:xfrm>
            <a:off x="2070404" y="2619635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F2BDA1-A76E-ABC0-4D75-724AFE1C3126}"/>
              </a:ext>
            </a:extLst>
          </p:cNvPr>
          <p:cNvSpPr/>
          <p:nvPr/>
        </p:nvSpPr>
        <p:spPr>
          <a:xfrm>
            <a:off x="2919920" y="1761474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25020FE-FE9F-A624-0FFE-13017FEBAB00}"/>
              </a:ext>
            </a:extLst>
          </p:cNvPr>
          <p:cNvSpPr/>
          <p:nvPr/>
        </p:nvSpPr>
        <p:spPr>
          <a:xfrm>
            <a:off x="2919920" y="2619635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C296AB-60B7-6E95-CE7E-0A34C222DF44}"/>
              </a:ext>
            </a:extLst>
          </p:cNvPr>
          <p:cNvSpPr/>
          <p:nvPr/>
        </p:nvSpPr>
        <p:spPr>
          <a:xfrm>
            <a:off x="4746908" y="1761474"/>
            <a:ext cx="334978" cy="17874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200CE2-AE39-A794-F9C2-E745674D51AC}"/>
              </a:ext>
            </a:extLst>
          </p:cNvPr>
          <p:cNvSpPr/>
          <p:nvPr/>
        </p:nvSpPr>
        <p:spPr>
          <a:xfrm>
            <a:off x="3944928" y="3075914"/>
            <a:ext cx="334978" cy="4730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AD8BFE-4677-6B08-4A74-8636BAF254AD}"/>
              </a:ext>
            </a:extLst>
          </p:cNvPr>
          <p:cNvSpPr/>
          <p:nvPr/>
        </p:nvSpPr>
        <p:spPr>
          <a:xfrm>
            <a:off x="1217869" y="4694725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F95875-C9FD-C376-406B-6ED49963E1E7}"/>
              </a:ext>
            </a:extLst>
          </p:cNvPr>
          <p:cNvSpPr/>
          <p:nvPr/>
        </p:nvSpPr>
        <p:spPr>
          <a:xfrm>
            <a:off x="1217869" y="5552886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B8BA1D-47D4-AF3A-97F8-533C21DB450C}"/>
              </a:ext>
            </a:extLst>
          </p:cNvPr>
          <p:cNvSpPr/>
          <p:nvPr/>
        </p:nvSpPr>
        <p:spPr>
          <a:xfrm>
            <a:off x="2919920" y="4694725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CFBAB1-BFBC-AE4B-E983-A3F1EF766F6B}"/>
              </a:ext>
            </a:extLst>
          </p:cNvPr>
          <p:cNvSpPr/>
          <p:nvPr/>
        </p:nvSpPr>
        <p:spPr>
          <a:xfrm>
            <a:off x="2919920" y="5552886"/>
            <a:ext cx="334978" cy="3349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C9C2CC-6F9D-5AE8-3E6B-35B893370416}"/>
              </a:ext>
            </a:extLst>
          </p:cNvPr>
          <p:cNvSpPr/>
          <p:nvPr/>
        </p:nvSpPr>
        <p:spPr>
          <a:xfrm>
            <a:off x="3950029" y="4659144"/>
            <a:ext cx="334978" cy="140667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D30626-126A-CBC9-F0CD-C3EC745930D3}"/>
              </a:ext>
            </a:extLst>
          </p:cNvPr>
          <p:cNvSpPr txBox="1"/>
          <p:nvPr/>
        </p:nvSpPr>
        <p:spPr>
          <a:xfrm>
            <a:off x="6190392" y="5550816"/>
            <a:ext cx="204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Reachability Table</a:t>
            </a:r>
            <a:endParaRPr lang="en-SG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80BA55-3906-C087-46D0-862032506706}"/>
              </a:ext>
            </a:extLst>
          </p:cNvPr>
          <p:cNvSpPr txBox="1"/>
          <p:nvPr/>
        </p:nvSpPr>
        <p:spPr>
          <a:xfrm>
            <a:off x="5298748" y="6296746"/>
            <a:ext cx="340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Note:</a:t>
            </a:r>
          </a:p>
          <a:p>
            <a:r>
              <a:rPr lang="en-US" sz="1200" dirty="0"/>
              <a:t>2 robot positions to mark all floor tiles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D1D1F6D-826A-5257-F8ED-D5A8EA99C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105" y="1896435"/>
            <a:ext cx="2848652" cy="279829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F4816A-6680-D5E4-A574-BB2E97505D80}"/>
              </a:ext>
            </a:extLst>
          </p:cNvPr>
          <p:cNvSpPr txBox="1"/>
          <p:nvPr/>
        </p:nvSpPr>
        <p:spPr>
          <a:xfrm>
            <a:off x="2551145" y="6253776"/>
            <a:ext cx="180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2800 mm</a:t>
            </a:r>
            <a:endParaRPr lang="en-S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3A2761-7232-C87A-097B-1AD4FCD95C61}"/>
              </a:ext>
            </a:extLst>
          </p:cNvPr>
          <p:cNvSpPr txBox="1"/>
          <p:nvPr/>
        </p:nvSpPr>
        <p:spPr>
          <a:xfrm>
            <a:off x="1118732" y="4178686"/>
            <a:ext cx="1801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1840 mm</a:t>
            </a:r>
            <a:endParaRPr lang="en-S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06EB90-1533-2675-8518-BCF83E50A2C2}"/>
              </a:ext>
            </a:extLst>
          </p:cNvPr>
          <p:cNvSpPr txBox="1"/>
          <p:nvPr/>
        </p:nvSpPr>
        <p:spPr>
          <a:xfrm>
            <a:off x="9272080" y="4660371"/>
            <a:ext cx="2043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Floor Coverage Estimation ~ 1460 mm radius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968979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5CD48-CD4B-1E46-337B-8E2CF69E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Notes for Floor Marking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C431D7-3F26-2C6D-2B56-24930DFA9B0D}"/>
              </a:ext>
            </a:extLst>
          </p:cNvPr>
          <p:cNvSpPr txBox="1"/>
          <p:nvPr/>
        </p:nvSpPr>
        <p:spPr>
          <a:xfrm>
            <a:off x="4840477" y="4049110"/>
            <a:ext cx="2792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Floor Frame Placement</a:t>
            </a:r>
            <a:endParaRPr lang="en-SG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187D18B-201C-7FC4-54D8-D8A283F9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616" y="734583"/>
            <a:ext cx="5132767" cy="3834168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572CC69-A5D0-2188-1C39-20AFE091C2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913575"/>
              </p:ext>
            </p:extLst>
          </p:nvPr>
        </p:nvGraphicFramePr>
        <p:xfrm>
          <a:off x="1819142" y="4464060"/>
          <a:ext cx="9321800" cy="22098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5354766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3620028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41952714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83003674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27278850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22712337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2232779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30736572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118276646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156838410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6588647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30987865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62531558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6661435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4369107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Marking type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 number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 X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 Y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 Z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Wall Number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Shape type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Quadrant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Unnamed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Orientation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Diameter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8543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5544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906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281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4872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657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Toilet 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1797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Shower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5748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Shower 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309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Shower 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9286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Shower 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1433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t"/>
                      <a:r>
                        <a:rPr lang="en-SG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Shower 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-1.02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blank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88702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828AD897-3281-7608-3EB1-3CED49CC0489}"/>
              </a:ext>
            </a:extLst>
          </p:cNvPr>
          <p:cNvSpPr txBox="1"/>
          <p:nvPr/>
        </p:nvSpPr>
        <p:spPr>
          <a:xfrm>
            <a:off x="8789250" y="3224903"/>
            <a:ext cx="2971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Assuming shower area is 20 mm lower than toilet 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Floor frame height = 1m line height</a:t>
            </a:r>
          </a:p>
        </p:txBody>
      </p:sp>
    </p:spTree>
    <p:extLst>
      <p:ext uri="{BB962C8B-B14F-4D97-AF65-F5344CB8AC3E}">
        <p14:creationId xmlns:p14="http://schemas.microsoft.com/office/powerpoint/2010/main" val="89918813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52463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ART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TC" id="{FAC4F18E-22DF-4E87-937B-E99C0F2CB7FE}" vid="{D1F5C047-BCA4-48A0-9BB1-3428BD63C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ARTC</Template>
  <TotalTime>200</TotalTime>
  <Words>541</Words>
  <Application>Microsoft Office PowerPoint</Application>
  <PresentationFormat>Widescreen</PresentationFormat>
  <Paragraphs>398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Narrow</vt:lpstr>
      <vt:lpstr>Arial</vt:lpstr>
      <vt:lpstr>Calibri</vt:lpstr>
      <vt:lpstr>Open Sans</vt:lpstr>
      <vt:lpstr>ARTC</vt:lpstr>
      <vt:lpstr>WALL PLACEMENT AND REACHABILITY ANALYSIS</vt:lpstr>
      <vt:lpstr>Wall Number Convention</vt:lpstr>
      <vt:lpstr>Robot Placement in PBU</vt:lpstr>
      <vt:lpstr>Previous Studies Compared to Current Pose Placement</vt:lpstr>
      <vt:lpstr>Marking Robot System – Floor Marking Coverage Est.</vt:lpstr>
      <vt:lpstr>Reachability Analysis of Floor Markings from Robot Positions</vt:lpstr>
      <vt:lpstr>Excel Notes for Floor Marking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Zulqarnain Abdul Halil</dc:creator>
  <cp:lastModifiedBy>Zulqarnain Abdul Halil</cp:lastModifiedBy>
  <cp:revision>3</cp:revision>
  <dcterms:created xsi:type="dcterms:W3CDTF">2025-05-19T03:56:04Z</dcterms:created>
  <dcterms:modified xsi:type="dcterms:W3CDTF">2025-05-19T07:16:39Z</dcterms:modified>
</cp:coreProperties>
</file>